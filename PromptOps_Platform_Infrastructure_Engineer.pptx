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962FF"/>
                </a:solidFill>
              </a:defRPr>
            </a:pPr>
            <a:r>
              <a:t>PromptOps for Platform &amp; Infrastructure Engineers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/>
            </a:pPr>
            <a:r>
              <a:t>Automate Everything • Multiply Your Impact • Scale 1 → 1000 Engineers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The Challenge: Your Daily Reality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7315200" cy="640080"/>
          </a:xfrm>
          <a:prstGeom prst="round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🔥 Firefighting Developers blocked by infra issues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834640"/>
            <a:ext cx="7315200" cy="64008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⏰ Time Sink Same problems, different teams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64008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🔧 Manual Toil Scripts everywhere, no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480560"/>
            <a:ext cx="7315200" cy="640080"/>
          </a:xfrm>
          <a:prstGeom prst="round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📞 Bottleneck You're the single point of contact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03520"/>
            <a:ext cx="7315200" cy="640080"/>
          </a:xfrm>
          <a:prstGeom prst="round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🌍 Scale Problem Supporting 1000+ engineers globally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The Vision: One-to-Many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Solve once → Nobody ever has this problem again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3657600" cy="1371600"/>
          </a:xfrm>
          <a:prstGeom prst="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BEFORE</a:t>
            </a:r>
          </a:p>
          <a:p/>
          <a:p>
            <a:r>
              <a:t>You: 1 problem</a:t>
            </a:r>
          </a:p>
          <a:p>
            <a:r>
              <a:t>↓</a:t>
            </a:r>
          </a:p>
          <a:p>
            <a:r>
              <a:t>1 solution</a:t>
            </a:r>
          </a:p>
          <a:p>
            <a:r>
              <a:t>↓</a:t>
            </a:r>
          </a:p>
          <a:p>
            <a:r>
              <a:t>1 person helped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297680" y="2743200"/>
            <a:ext cx="548640" cy="548640"/>
          </a:xfrm>
          <a:prstGeom prst="rightArrow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2286000"/>
            <a:ext cx="3657600" cy="1371600"/>
          </a:xfrm>
          <a:prstGeom prst="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WITH PROMPTOPS</a:t>
            </a:r>
          </a:p>
          <a:p/>
          <a:p>
            <a:r>
              <a:t>You: 1 problem</a:t>
            </a:r>
          </a:p>
          <a:p>
            <a:r>
              <a:t>↓</a:t>
            </a:r>
          </a:p>
          <a:p>
            <a:r>
              <a:t>Automated platform</a:t>
            </a:r>
          </a:p>
          <a:p>
            <a:r>
              <a:t>↓</a:t>
            </a:r>
          </a:p>
          <a:p>
            <a:r>
              <a:t>1000 people helped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🚀 Your impact: 1 → 1000x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Complete DevOps Flow: Commit →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12 Automated Stages in 8-12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371600" cy="731520"/>
          </a:xfrm>
          <a:prstGeom prst="roundRect">
            <a:avLst/>
          </a:prstGeom>
          <a:solidFill>
            <a:srgbClr val="296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Commit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28800" y="237744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11680" y="2011680"/>
            <a:ext cx="1371600" cy="731520"/>
          </a:xfrm>
          <a:prstGeom prst="roundRect">
            <a:avLst/>
          </a:prstGeom>
          <a:solidFill>
            <a:srgbClr val="296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CI/CD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0" y="237744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2011680"/>
            <a:ext cx="1371600" cy="731520"/>
          </a:xfrm>
          <a:prstGeom prst="roundRect">
            <a:avLst/>
          </a:prstGeom>
          <a:solidFill>
            <a:srgbClr val="60A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Build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37760" y="237744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20640" y="2011680"/>
            <a:ext cx="1371600" cy="731520"/>
          </a:xfrm>
          <a:prstGeom prst="roundRect">
            <a:avLst/>
          </a:prstGeom>
          <a:solidFill>
            <a:srgbClr val="60A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Test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92240" y="237744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675120" y="2011680"/>
            <a:ext cx="1371600" cy="731520"/>
          </a:xfrm>
          <a:prstGeom prst="roundRect">
            <a:avLst/>
          </a:prstGeom>
          <a:solidFill>
            <a:srgbClr val="A85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Scan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1371600" cy="731520"/>
          </a:xfrm>
          <a:prstGeom prst="roundRect">
            <a:avLst/>
          </a:prstGeom>
          <a:solidFill>
            <a:srgbClr val="A85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6. Docker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8800" y="356616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011680" y="3200400"/>
            <a:ext cx="1371600" cy="73152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7. K8s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0" y="356616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66160" y="3200400"/>
            <a:ext cx="1371600" cy="73152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8. Cloud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7760" y="356616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0640" y="3200400"/>
            <a:ext cx="1371600" cy="73152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9. Monitor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92240" y="3566160"/>
            <a:ext cx="18288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75120" y="3200400"/>
            <a:ext cx="1371600" cy="73152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10. Alerts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0" y="2377440"/>
            <a:ext cx="0" cy="54864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971800" y="4389120"/>
            <a:ext cx="1828800" cy="73152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11. Deploy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0" y="4389120"/>
            <a:ext cx="1828800" cy="73152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12. Production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00600" y="475488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86200" y="3931920"/>
            <a:ext cx="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286000" y="5486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⏱ Total: 8-12 minutes (was 5h 40min)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Stage 1: Developer Commit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The journey begins with git push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286000"/>
            <a:ext cx="1828800" cy="914400"/>
          </a:xfrm>
          <a:prstGeom prst="ellipse">
            <a:avLst/>
          </a:prstGeom>
          <a:solidFill>
            <a:srgbClr val="296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👨‍💻</a:t>
            </a:r>
          </a:p>
          <a:p>
            <a:r>
              <a:t>Developer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274320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2286000"/>
            <a:ext cx="1828800" cy="914400"/>
          </a:xfrm>
          <a:prstGeom prst="roundRect">
            <a:avLst/>
          </a:prstGeom>
          <a:solidFill>
            <a:srgbClr val="60A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git push</a:t>
            </a:r>
          </a:p>
          <a:p>
            <a:r>
              <a:t>origin main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274320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ghtning Bolt 7"/>
          <p:cNvSpPr/>
          <p:nvPr/>
        </p:nvSpPr>
        <p:spPr>
          <a:xfrm>
            <a:off x="5486400" y="2286000"/>
            <a:ext cx="1828800" cy="914400"/>
          </a:xfrm>
          <a:prstGeom prst="lightningBol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</a:t>
            </a:r>
          </a:p>
          <a:p>
            <a:r>
              <a:t>Webhook</a:t>
            </a:r>
          </a:p>
          <a:p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✓ Commit metadata extracted (author, files, message)</a:t>
            </a:r>
          </a:p>
          <a:p>
            <a:pPr>
              <a:spcBef>
                <a:spcPts val="600"/>
              </a:spcBef>
              <a:defRPr sz="1600"/>
            </a:pPr>
            <a:r>
              <a:t>✓ Affected services identified automatically</a:t>
            </a:r>
          </a:p>
          <a:p>
            <a:pPr>
              <a:spcBef>
                <a:spcPts val="600"/>
              </a:spcBef>
              <a:defRPr sz="1600"/>
            </a:pPr>
            <a:r>
              <a:t>✓ Environment determined (main → prod, develop → staging)</a:t>
            </a:r>
          </a:p>
          <a:p>
            <a:pPr>
              <a:spcBef>
                <a:spcPts val="600"/>
              </a:spcBef>
              <a:defRPr sz="1600"/>
            </a:pPr>
            <a:r>
              <a:t>✓ Pipeline triggered with zero manual intervention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Stages 2-4: CI/CD → Build →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Automated quality 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2286000" cy="731520"/>
          </a:xfrm>
          <a:prstGeom prst="roundRect">
            <a:avLst/>
          </a:prstGeom>
          <a:solidFill>
            <a:srgbClr val="296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CI/CD Trigger</a:t>
            </a:r>
          </a:p>
          <a:p>
            <a:r>
              <a:t>&lt;30 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• GitHub Actions</a:t>
            </a:r>
          </a:p>
          <a:p>
            <a:r>
              <a:t>• GitLab CI</a:t>
            </a:r>
          </a:p>
          <a:p>
            <a:r>
              <a:t>• Jenkins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0" y="246888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57600" y="2103120"/>
            <a:ext cx="2286000" cy="731520"/>
          </a:xfrm>
          <a:prstGeom prst="roundRect">
            <a:avLst/>
          </a:prstGeom>
          <a:solidFill>
            <a:srgbClr val="60A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Build</a:t>
            </a:r>
          </a:p>
          <a:p>
            <a:r>
              <a:t>2-5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9260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• Dependencies cached</a:t>
            </a:r>
          </a:p>
          <a:p>
            <a:r>
              <a:t>• Incremental builds</a:t>
            </a:r>
          </a:p>
          <a:p>
            <a:r>
              <a:t>• Parallel compilation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2468880"/>
            <a:ext cx="4572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2103120"/>
            <a:ext cx="2286000" cy="731520"/>
          </a:xfrm>
          <a:prstGeom prst="roundRect">
            <a:avLst/>
          </a:prstGeom>
          <a:solidFill>
            <a:srgbClr val="A85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Test</a:t>
            </a:r>
          </a:p>
          <a:p>
            <a:r>
              <a:t>3-8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• Unit tests</a:t>
            </a:r>
          </a:p>
          <a:p>
            <a:r>
              <a:t>• Integration tests</a:t>
            </a:r>
          </a:p>
          <a:p>
            <a:r>
              <a:t>• E2E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148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10B981"/>
                </a:solidFill>
              </a:defRPr>
            </a:pPr>
            <a:r>
              <a:t>🛡️ Quality Gates (Automatic)</a:t>
            </a:r>
          </a:p>
          <a:p>
            <a:pPr>
              <a:spcBef>
                <a:spcPts val="400"/>
              </a:spcBef>
              <a:defRPr sz="1400"/>
            </a:pPr>
            <a:r>
              <a:t>✓ Code coverage &gt;80%</a:t>
            </a:r>
          </a:p>
          <a:p>
            <a:pPr>
              <a:spcBef>
                <a:spcPts val="400"/>
              </a:spcBef>
              <a:defRPr sz="1400"/>
            </a:pPr>
            <a:r>
              <a:t>✓ All tests pass</a:t>
            </a:r>
          </a:p>
          <a:p>
            <a:pPr>
              <a:spcBef>
                <a:spcPts val="400"/>
              </a:spcBef>
              <a:defRPr sz="1400"/>
            </a:pPr>
            <a:r>
              <a:t>✓ No critical bugs</a:t>
            </a:r>
          </a:p>
          <a:p>
            <a:pPr>
              <a:spcBef>
                <a:spcPts val="400"/>
              </a:spcBef>
              <a:defRPr sz="1400"/>
            </a:pPr>
            <a:r>
              <a:t>✓ Performance benchmarks met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Stages 5-6: Security →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Multi-layer security + Optimized containers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657600" cy="731520"/>
          </a:xfrm>
          <a:prstGeom prst="round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Security Scanning (1-2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🔍 SAST - Code vulnerabilities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📦 Dependencies - CVE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🐳 Container - Image scanning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☁️ IaC - Terraform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011680"/>
            <a:ext cx="3657600" cy="731520"/>
          </a:xfrm>
          <a:prstGeom prst="roundRect">
            <a:avLst/>
          </a:prstGeom>
          <a:solidFill>
            <a:srgbClr val="60A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6. Docker Build (2-4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926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📦 Multi-stage builds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383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⚡ Layer caching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840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🎯 200MB → 50MB (75% smaller)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2976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🔒 Security hardening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029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✅ Secure, Optimized Container Ready for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Stages 7-8: Kubernetes →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Container orchestration + Infrastructure provisioning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62FF"/>
                </a:solidFill>
              </a:defRPr>
            </a:pPr>
            <a:r>
              <a:t>7. Kubernetes Preparation (1-2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Deployment: Pod specs, replicas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Service: Load balancing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Ingress: External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HPA: Auto-scaling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5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ConfigMap: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39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Secrets: Encrypted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116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8. Cloud Provisioning (3-5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7432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☁️ AWS / GCP / Azure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063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🌐 VPC &amp; Networking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3832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⚖️ Load Balancers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7033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💾 Databases (RDS, etc.)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02335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🗄️ Storage (S3, etc.)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34339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🔧 Terraform automated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5-Layer Monitoring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Complete observability from infrastructure to business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743200" cy="548640"/>
          </a:xfrm>
          <a:prstGeom prst="roundRect">
            <a:avLst/>
          </a:prstGeom>
          <a:solidFill>
            <a:srgbClr val="A85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5: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828800"/>
            <a:ext cx="48463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300"/>
            </a:pPr>
            <a:r>
              <a:t>Deployments, MTTD, MTTR, 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2743200" cy="54864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4: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560320"/>
            <a:ext cx="48463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300"/>
            </a:pPr>
            <a:r>
              <a:t>ML anomaly detection, forecasting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2743200" cy="548640"/>
          </a:xfrm>
          <a:prstGeom prst="round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3: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291840"/>
            <a:ext cx="48463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300"/>
            </a:pPr>
            <a:r>
              <a:t>CVE, threats, compliance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23360"/>
            <a:ext cx="2743200" cy="548640"/>
          </a:xfrm>
          <a:prstGeom prst="roundRect">
            <a:avLst/>
          </a:prstGeom>
          <a:solidFill>
            <a:srgbClr val="60A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2: APM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023360"/>
            <a:ext cx="48463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300"/>
            </a:pPr>
            <a:r>
              <a:t>P95 latency, errors, throughput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54880"/>
            <a:ext cx="2743200" cy="54864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1: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754880"/>
            <a:ext cx="48463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300"/>
            </a:pPr>
            <a:r>
              <a:t>CPU, Memory, Network, Disk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Predictive Intelligence: Prevent, Don't 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Issues detected 7+ days before they occur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286000"/>
            <a:ext cx="1371600" cy="731520"/>
          </a:xfrm>
          <a:prstGeom prst="ellipse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Day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7373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/>
            </a:pPr>
            <a:r>
              <a:t>ML detects</a:t>
            </a:r>
            <a:br/>
            <a:r>
              <a:t>trend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265176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743200" y="2286000"/>
            <a:ext cx="1371600" cy="731520"/>
          </a:xfrm>
          <a:prstGeom prst="ellipse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200400"/>
            <a:ext cx="17373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/>
            </a:pPr>
            <a:r>
              <a:t>Prediction:</a:t>
            </a:r>
            <a:br/>
            <a:r>
              <a:t>Disk 90%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265176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572000" y="2286000"/>
            <a:ext cx="1371600" cy="731520"/>
          </a:xfrm>
          <a:prstGeom prst="ellipse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Day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00400"/>
            <a:ext cx="17373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/>
            </a:pPr>
            <a:r>
              <a:t>Alert:</a:t>
            </a:r>
            <a:br/>
            <a:r>
              <a:t>Action needed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65176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400800" y="2286000"/>
            <a:ext cx="1371600" cy="731520"/>
          </a:xfrm>
          <a:prstGeom prst="ellipse">
            <a:avLst/>
          </a:prstGeom>
          <a:solidFill>
            <a:srgbClr val="9696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Day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00400"/>
            <a:ext cx="173736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/>
            </a:pPr>
            <a:r>
              <a:t>Would have</a:t>
            </a:r>
            <a:br/>
            <a:r>
              <a:t>failed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38912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962FF"/>
                </a:solidFill>
              </a:defRPr>
            </a:pPr>
            <a:r>
              <a:t>🔮 What We Predict:</a:t>
            </a:r>
          </a:p>
          <a:p>
            <a:pPr>
              <a:defRPr sz="1300"/>
            </a:pPr>
            <a:r>
              <a:t>Disk/Memory exhaustion • Performance degradation • Disk failures</a:t>
            </a:r>
          </a:p>
          <a:p>
            <a:pPr>
              <a:defRPr sz="1300"/>
            </a:pPr>
            <a:r>
              <a:t>Cost spikes • Security incidents • Scaling needs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Automated Remediation: Self-Healing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From detection to fix in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371600" cy="914400"/>
          </a:xfrm>
          <a:prstGeom prst="round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Issue</a:t>
            </a:r>
          </a:p>
          <a:p>
            <a:r>
              <a:t>Detected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274320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2286000"/>
            <a:ext cx="1371600" cy="9144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Validate</a:t>
            </a:r>
          </a:p>
          <a:p>
            <a:r>
              <a:t>Safe to Fix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74320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2286000"/>
            <a:ext cx="1371600" cy="9144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Auto</a:t>
            </a:r>
          </a:p>
          <a:p>
            <a:r>
              <a:t>Remediate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274320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2286000"/>
            <a:ext cx="1371600" cy="9144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Verify</a:t>
            </a:r>
          </a:p>
          <a:p>
            <a:r>
              <a:t>Resolved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8229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962FF"/>
                </a:solidFill>
              </a:defRPr>
            </a:pPr>
            <a:r>
              <a:t>🤖 Auto-Fix Examples:</a:t>
            </a:r>
          </a:p>
          <a:p>
            <a:pPr>
              <a:spcBef>
                <a:spcPts val="400"/>
              </a:spcBef>
              <a:defRPr sz="1200"/>
            </a:pPr>
            <a:r>
              <a:t>• High CPU → Auto-scale up • Disk full → Cleanup + expand</a:t>
            </a:r>
          </a:p>
          <a:p>
            <a:pPr>
              <a:spcBef>
                <a:spcPts val="400"/>
              </a:spcBef>
              <a:defRPr sz="1200"/>
            </a:pPr>
            <a:r>
              <a:t>• Service down → Restart + failover • Memory leak → Rolling restart</a:t>
            </a:r>
          </a:p>
          <a:p>
            <a:pPr>
              <a:spcBef>
                <a:spcPts val="400"/>
              </a:spcBef>
              <a:defRPr sz="1200"/>
            </a:pPr>
            <a:r>
              <a:t>• High errors → Rollback deployment • Security drift → Revert to baseline</a:t>
            </a:r>
          </a:p>
          <a:p>
            <a:pPr>
              <a:spcBef>
                <a:spcPts val="400"/>
              </a:spcBef>
              <a:defRPr sz="1200"/>
            </a:pPr>
            <a:r>
              <a:t>• Cost spike → Stop idle resources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The Transformation: Before vs.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From hours to minutes, from manual to automated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371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400" b="1"/>
            </a:pPr>
            <a:r>
              <a:t>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1828800"/>
            <a:ext cx="2743200" cy="365760"/>
          </a:xfrm>
          <a:prstGeom prst="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Before: 340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914400" cy="365760"/>
          </a:xfrm>
          <a:prstGeom prst="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After: 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97% faster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371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400" b="1"/>
            </a:pPr>
            <a:r>
              <a:t>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200400"/>
            <a:ext cx="2743200" cy="365760"/>
          </a:xfrm>
          <a:prstGeom prst="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Before: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200400"/>
            <a:ext cx="914400" cy="365760"/>
          </a:xfrm>
          <a:prstGeom prst="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After: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004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95%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371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400" b="1"/>
            </a:pPr>
            <a:r>
              <a:t>Errors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4572000"/>
            <a:ext cx="2743200" cy="365760"/>
          </a:xfrm>
          <a:prstGeom prst="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Before: 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572000"/>
            <a:ext cx="914400" cy="365760"/>
          </a:xfrm>
          <a:prstGeom prst="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After: &lt;1%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5720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96% reduction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Your Impact: From 1 to 1000 Engineers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Build once, serve thousands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743200"/>
            <a:ext cx="1828800" cy="1097280"/>
          </a:xfrm>
          <a:prstGeom prst="ellipse">
            <a:avLst/>
          </a:prstGeom>
          <a:solidFill>
            <a:srgbClr val="296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YOU</a:t>
            </a:r>
          </a:p>
          <a:p>
            <a:r>
              <a:t>Platform</a:t>
            </a:r>
          </a:p>
          <a:p>
            <a:r>
              <a:t>Engineer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1097280" cy="4572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200 Devs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1097280" cy="4572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200 Devs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1097280" cy="4572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200 Devs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572000"/>
            <a:ext cx="1097280" cy="4572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200 Devs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097280"/>
            <a:ext cx="1097280" cy="4572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200 Devs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1 Platform → 1000 Engineers → Zero Manual Intervention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Perfect Match: Your Skills + PromptOps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Everything you know, automated and scaled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657600" cy="640080"/>
          </a:xfrm>
          <a:prstGeom prst="roundRect">
            <a:avLst/>
          </a:prstGeom>
          <a:solidFill>
            <a:srgbClr val="296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🐧 Linux Core platform 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3657600" cy="640080"/>
          </a:xfrm>
          <a:prstGeom prst="roundRect">
            <a:avLst/>
          </a:prstGeom>
          <a:solidFill>
            <a:srgbClr val="60A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📦 Containers Docker, K8s, Helm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657600" cy="640080"/>
          </a:xfrm>
          <a:prstGeom prst="roundRect">
            <a:avLst/>
          </a:prstGeom>
          <a:solidFill>
            <a:srgbClr val="A85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🔄 CI/CD GitHub Actions, GitLab, Jenkins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286000"/>
            <a:ext cx="3657600" cy="64008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☁️ Cloud AWS, GCP, Azure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200400"/>
            <a:ext cx="3657600" cy="64008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🔧 IaC Terraform, Ansible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114800"/>
            <a:ext cx="3657600" cy="640080"/>
          </a:xfrm>
          <a:prstGeom prst="round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🐍 Python Automation scripts built-in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ROI: What This Means for Platform Engineers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286000"/>
            <a:ext cx="6400800" cy="64008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⏰ Time Back: 15-20 hrs/week → strategic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108960"/>
            <a:ext cx="6400800" cy="640080"/>
          </a:xfrm>
          <a:prstGeom prst="roundRect">
            <a:avLst/>
          </a:prstGeom>
          <a:solidFill>
            <a:srgbClr val="296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🚀 Impact: 1 → 1000x engineer productivity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931920"/>
            <a:ext cx="6400800" cy="640080"/>
          </a:xfrm>
          <a:prstGeom prst="roundRect">
            <a:avLst/>
          </a:prstGeom>
          <a:solidFill>
            <a:srgbClr val="A855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🎯 Focus: Build platforms, not fight fires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6400800" cy="64008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📈 Career: From firefighter to force multiplier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577840"/>
            <a:ext cx="6400800" cy="64008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😊 Life: On-call alerts: -85%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962FF"/>
                </a:solidFill>
              </a:defRPr>
            </a:pPr>
            <a:r>
              <a:t>Getting Started: 3 Steps for Platform Engineers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560320"/>
            <a:ext cx="1828800" cy="1371600"/>
          </a:xfrm>
          <a:prstGeom prst="roundRect">
            <a:avLst/>
          </a:prstGeom>
          <a:solidFill>
            <a:srgbClr val="296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Deploy</a:t>
            </a:r>
          </a:p>
          <a:p>
            <a:r>
              <a:t>PromptOps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30 minutes</a:t>
            </a:r>
            <a:br/>
            <a:r>
              <a:t>CloudFormation</a:t>
            </a:r>
            <a:br/>
            <a:r>
              <a:t>template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0" y="320040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0" y="2560320"/>
            <a:ext cx="1828800" cy="13716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Connect</a:t>
            </a:r>
          </a:p>
          <a:p>
            <a:r>
              <a:t>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114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15 minutes</a:t>
            </a:r>
            <a:br/>
            <a:r>
              <a:t>Point to Terraform</a:t>
            </a:r>
            <a:br/>
            <a:r>
              <a:t>state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320040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43600" y="2560320"/>
            <a:ext cx="1828800" cy="1371600"/>
          </a:xfrm>
          <a:prstGeom prst="round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Multiply</a:t>
            </a:r>
          </a:p>
          <a:p>
            <a: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114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24 hours</a:t>
            </a:r>
            <a:br/>
            <a:r>
              <a:t>Platform live for</a:t>
            </a:r>
            <a:br/>
            <a:r>
              <a:t>1000 engineers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962FF"/>
                </a:solidFill>
              </a:defRPr>
            </a:pPr>
            <a:r>
              <a:t>From Firefighter</a:t>
            </a:r>
            <a:br/>
            <a:r>
              <a:t>to Force Multiplier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1 → 1000x Impact • 97% Time Savings • Self-Service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53035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Build Once → Serve 1000 Engineers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team@promptops.io | promptops.io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